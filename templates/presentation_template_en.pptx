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5143500" cx="9144000"/>
  <p:notesSz cx="6858000" cy="9144000"/>
  <p:embeddedFontLst>
    <p:embeddedFont>
      <p:font typeface="Montserrat"/>
      <p:regular r:id="rId18"/>
      <p:bold r:id="rId19"/>
      <p:italic r:id="rId20"/>
      <p:boldItalic r:id="rId21"/>
    </p:embeddedFont>
    <p:embeddedFont>
      <p:font typeface="Sora ExtraLight"/>
      <p:regular r:id="rId22"/>
      <p:bold r:id="rId23"/>
    </p:embeddedFont>
    <p:embeddedFont>
      <p:font typeface="Sora ExtraBold"/>
      <p:bold r:id="rId24"/>
    </p:embeddedFont>
    <p:embeddedFont>
      <p:font typeface="Sora"/>
      <p:regular r:id="rId25"/>
      <p:bold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ontserrat-italic.fntdata"/><Relationship Id="rId22" Type="http://schemas.openxmlformats.org/officeDocument/2006/relationships/font" Target="fonts/SoraExtraLight-regular.fntdata"/><Relationship Id="rId21" Type="http://schemas.openxmlformats.org/officeDocument/2006/relationships/font" Target="fonts/Montserrat-boldItalic.fntdata"/><Relationship Id="rId24" Type="http://schemas.openxmlformats.org/officeDocument/2006/relationships/font" Target="fonts/SoraExtraBold-bold.fntdata"/><Relationship Id="rId23" Type="http://schemas.openxmlformats.org/officeDocument/2006/relationships/font" Target="fonts/SoraExtraLight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Sora-bold.fntdata"/><Relationship Id="rId25" Type="http://schemas.openxmlformats.org/officeDocument/2006/relationships/font" Target="fonts/Sora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font" Target="fonts/Montserrat-bold.fntdata"/><Relationship Id="rId18" Type="http://schemas.openxmlformats.org/officeDocument/2006/relationships/font" Target="fonts/Montserrat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7" name="Google Shape;67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" name="Google Shape;7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" name="Google Shape;8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" name="Google Shape;9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7" name="Google Shape;11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3" name="Google Shape;123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" name="Google Shape;13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/>
          <p:nvPr>
            <p:ph idx="2" type="pic"/>
          </p:nvPr>
        </p:nvSpPr>
        <p:spPr>
          <a:xfrm>
            <a:off x="6065950" y="938463"/>
            <a:ext cx="5100000" cy="25647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/>
          <p:nvPr/>
        </p:nvSpPr>
        <p:spPr>
          <a:xfrm>
            <a:off x="7063500" y="4681800"/>
            <a:ext cx="2080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9EED6B"/>
                </a:solidFill>
                <a:latin typeface="Sora"/>
                <a:ea typeface="Sora"/>
                <a:cs typeface="Sora"/>
                <a:sym typeface="Sora"/>
              </a:rPr>
              <a:t>Green Pathways</a:t>
            </a:r>
            <a:endParaRPr b="0" i="0" sz="1800" u="none" cap="none" strike="noStrike">
              <a:solidFill>
                <a:srgbClr val="9EED6B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57" name="Google Shape;57;p14"/>
          <p:cNvSpPr txBox="1"/>
          <p:nvPr/>
        </p:nvSpPr>
        <p:spPr>
          <a:xfrm>
            <a:off x="477900" y="832350"/>
            <a:ext cx="8188200" cy="347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00"/>
              <a:buFont typeface="Arial"/>
              <a:buNone/>
            </a:pPr>
            <a:r>
              <a:rPr b="0" i="0" lang="en-GB" sz="47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Green Pathways </a:t>
            </a:r>
            <a:br>
              <a:rPr b="0" i="0" lang="en-GB" sz="47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</a:br>
            <a:r>
              <a:rPr b="0" i="0" lang="en-GB" sz="47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Capstone Presentation</a:t>
            </a:r>
            <a:endParaRPr b="0" i="0" sz="47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-GB" sz="30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Name</a:t>
            </a:r>
            <a:endParaRPr b="0" i="0" sz="30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-GB" sz="30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Date</a:t>
            </a:r>
            <a:endParaRPr b="0" i="0" sz="30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58" name="Google Shape;58;p14"/>
          <p:cNvSpPr txBox="1"/>
          <p:nvPr/>
        </p:nvSpPr>
        <p:spPr>
          <a:xfrm>
            <a:off x="5827350" y="111500"/>
            <a:ext cx="3222300" cy="1448400"/>
          </a:xfrm>
          <a:prstGeom prst="rect">
            <a:avLst/>
          </a:prstGeom>
          <a:solidFill>
            <a:srgbClr val="FDFDA0"/>
          </a:solidFill>
          <a:ln cap="flat" cmpd="sng" w="19050">
            <a:solidFill>
              <a:srgbClr val="9EED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Sora"/>
              <a:buAutoNum type="arabicPeriod"/>
            </a:pPr>
            <a:r>
              <a:rPr b="1" i="0" lang="en-GB" sz="1300" u="none" cap="none" strike="noStrike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rPr>
              <a:t>Make a copy of this document</a:t>
            </a:r>
            <a:r>
              <a:rPr b="0" i="0" lang="en-GB" sz="1300" u="none" cap="none" strike="noStrike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rPr>
              <a:t> (File &gt; Make a copy &gt; Entire Presentation) or download to edit (File &gt; Download &gt; choose file type).</a:t>
            </a:r>
            <a:endParaRPr b="0" i="0" sz="1300" u="none" cap="none" strike="noStrike">
              <a:solidFill>
                <a:schemeClr val="dk2"/>
              </a:solidFill>
              <a:latin typeface="Sora"/>
              <a:ea typeface="Sora"/>
              <a:cs typeface="Sora"/>
              <a:sym typeface="Sora"/>
            </a:endParaRPr>
          </a:p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Sora"/>
              <a:buAutoNum type="arabicPeriod"/>
            </a:pPr>
            <a:r>
              <a:rPr b="0" i="0" lang="en-GB" sz="1300" u="none" cap="none" strike="noStrike">
                <a:solidFill>
                  <a:schemeClr val="dk2"/>
                </a:solidFill>
                <a:latin typeface="Sora"/>
                <a:ea typeface="Sora"/>
                <a:cs typeface="Sora"/>
                <a:sym typeface="Sora"/>
              </a:rPr>
              <a:t>Delete this text box.</a:t>
            </a:r>
            <a:endParaRPr b="0" i="0" sz="1300" u="none" cap="none" strike="noStrike">
              <a:solidFill>
                <a:schemeClr val="dk2"/>
              </a:solidFill>
              <a:latin typeface="Sora"/>
              <a:ea typeface="Sora"/>
              <a:cs typeface="Sora"/>
              <a:sym typeface="Sor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/>
        </p:nvSpPr>
        <p:spPr>
          <a:xfrm>
            <a:off x="477900" y="413350"/>
            <a:ext cx="8188200" cy="209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GB" sz="40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Executive Summary</a:t>
            </a:r>
            <a:endParaRPr b="0" i="0" sz="40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153988"/>
                </a:solidFill>
                <a:latin typeface="Sora ExtraLight"/>
                <a:ea typeface="Sora ExtraLight"/>
                <a:cs typeface="Sora ExtraLight"/>
                <a:sym typeface="Sora ExtraLight"/>
              </a:rPr>
              <a:t>In 100 words or less, outline your next steps for a career in your chosen field within sustainability. (Summarise main points of this presentation.)</a:t>
            </a:r>
            <a:endParaRPr b="0" i="0" sz="1800" u="none" cap="none" strike="noStrike">
              <a:solidFill>
                <a:srgbClr val="153988"/>
              </a:solidFill>
              <a:latin typeface="Sora ExtraLight"/>
              <a:ea typeface="Sora ExtraLight"/>
              <a:cs typeface="Sora ExtraLight"/>
              <a:sym typeface="Sora ExtraLight"/>
            </a:endParaRPr>
          </a:p>
        </p:txBody>
      </p:sp>
      <p:sp>
        <p:nvSpPr>
          <p:cNvPr id="64" name="Google Shape;64;p15"/>
          <p:cNvSpPr txBox="1"/>
          <p:nvPr/>
        </p:nvSpPr>
        <p:spPr>
          <a:xfrm>
            <a:off x="7063500" y="4681800"/>
            <a:ext cx="2080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9EED6B"/>
                </a:solidFill>
                <a:latin typeface="Sora"/>
                <a:ea typeface="Sora"/>
                <a:cs typeface="Sora"/>
                <a:sym typeface="Sora"/>
              </a:rPr>
              <a:t>Green Pathways</a:t>
            </a:r>
            <a:endParaRPr b="0" i="0" sz="1800" u="none" cap="none" strike="noStrike">
              <a:solidFill>
                <a:srgbClr val="9EED6B"/>
              </a:solidFill>
              <a:latin typeface="Sora"/>
              <a:ea typeface="Sora"/>
              <a:cs typeface="Sora"/>
              <a:sym typeface="Sor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9EED6B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/>
          <p:nvPr/>
        </p:nvSpPr>
        <p:spPr>
          <a:xfrm>
            <a:off x="3428175" y="0"/>
            <a:ext cx="5782800" cy="5143500"/>
          </a:xfrm>
          <a:prstGeom prst="rect">
            <a:avLst/>
          </a:prstGeom>
          <a:solidFill>
            <a:srgbClr val="9EED6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90"/>
              <a:buFont typeface="Arial"/>
              <a:buNone/>
            </a:pPr>
            <a:r>
              <a:t/>
            </a:r>
            <a:endParaRPr b="1" i="0" sz="40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90"/>
              <a:buFont typeface="Arial"/>
              <a:buNone/>
            </a:pPr>
            <a:r>
              <a:t/>
            </a:r>
            <a:endParaRPr b="1" i="0" sz="40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90"/>
              <a:buFont typeface="Montserrat"/>
              <a:buNone/>
            </a:pPr>
            <a:r>
              <a:t/>
            </a:r>
            <a:endParaRPr b="0" i="1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6"/>
          <p:cNvSpPr txBox="1"/>
          <p:nvPr/>
        </p:nvSpPr>
        <p:spPr>
          <a:xfrm>
            <a:off x="331425" y="1070475"/>
            <a:ext cx="4879800" cy="44358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50" lIns="34300" spcFirstLastPara="1" rIns="34300" wrap="square" tIns="17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r>
              <a:rPr b="0" i="0" lang="en-GB" sz="18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Part 1</a:t>
            </a:r>
            <a:endParaRPr b="0" i="0" sz="18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r>
              <a:rPr b="1" i="0" lang="en-GB" sz="18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Opportunities</a:t>
            </a:r>
            <a:endParaRPr b="1" i="0" sz="18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r>
              <a:rPr b="0" i="0" lang="en-GB" sz="18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Part 2</a:t>
            </a:r>
            <a:endParaRPr b="0" i="0" sz="18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r>
              <a:rPr b="1" i="0" lang="en-GB" sz="18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Skills &amp; Education</a:t>
            </a:r>
            <a:endParaRPr b="1" i="0" sz="18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r>
              <a:rPr b="0" i="0" lang="en-GB" sz="18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Part 3</a:t>
            </a:r>
            <a:endParaRPr b="0" i="0" sz="18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r>
              <a:rPr b="1" i="0" lang="en-GB" sz="18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Experience</a:t>
            </a:r>
            <a:endParaRPr b="1" i="0" sz="18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r>
              <a:rPr b="0" i="0" lang="en-GB" sz="18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Part 4</a:t>
            </a:r>
            <a:br>
              <a:rPr b="1" i="0" lang="en-GB" sz="18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</a:br>
            <a:r>
              <a:rPr b="1" i="0" lang="en-GB" sz="18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Next Steps</a:t>
            </a:r>
            <a:endParaRPr b="1" i="0" sz="18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br>
              <a:rPr b="0" i="0" lang="en-GB" sz="18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</a:br>
            <a:endParaRPr b="0" i="0" sz="18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71" name="Google Shape;71;p16"/>
          <p:cNvSpPr txBox="1"/>
          <p:nvPr/>
        </p:nvSpPr>
        <p:spPr>
          <a:xfrm>
            <a:off x="255225" y="330300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-GB" sz="3000" u="none" cap="none" strike="noStrike">
                <a:solidFill>
                  <a:srgbClr val="FFFFFF"/>
                </a:solidFill>
                <a:latin typeface="Sora ExtraBold"/>
                <a:ea typeface="Sora ExtraBold"/>
                <a:cs typeface="Sora ExtraBold"/>
                <a:sym typeface="Sora ExtraBold"/>
              </a:rPr>
              <a:t>Contents</a:t>
            </a:r>
            <a:endParaRPr b="0" i="0" sz="3000" u="none" cap="none" strike="noStrike">
              <a:solidFill>
                <a:srgbClr val="FFFFFF"/>
              </a:solidFill>
              <a:latin typeface="Sora ExtraBold"/>
              <a:ea typeface="Sora ExtraBold"/>
              <a:cs typeface="Sora ExtraBold"/>
              <a:sym typeface="Sora ExtraBold"/>
            </a:endParaRPr>
          </a:p>
        </p:txBody>
      </p:sp>
      <p:sp>
        <p:nvSpPr>
          <p:cNvPr id="72" name="Google Shape;72;p16"/>
          <p:cNvSpPr txBox="1"/>
          <p:nvPr/>
        </p:nvSpPr>
        <p:spPr>
          <a:xfrm>
            <a:off x="7063500" y="4681800"/>
            <a:ext cx="2080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FDFDA0"/>
                </a:solidFill>
                <a:latin typeface="Sora"/>
                <a:ea typeface="Sora"/>
                <a:cs typeface="Sora"/>
                <a:sym typeface="Sora"/>
              </a:rPr>
              <a:t>Green Pathways</a:t>
            </a:r>
            <a:endParaRPr b="0" i="0" sz="1800" u="none" cap="none" strike="noStrike">
              <a:solidFill>
                <a:srgbClr val="FDFDA0"/>
              </a:solidFill>
              <a:latin typeface="Sora"/>
              <a:ea typeface="Sora"/>
              <a:cs typeface="Sora"/>
              <a:sym typeface="Sor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7"/>
          <p:cNvSpPr txBox="1"/>
          <p:nvPr/>
        </p:nvSpPr>
        <p:spPr>
          <a:xfrm>
            <a:off x="477900" y="413350"/>
            <a:ext cx="8188200" cy="332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Arial"/>
              <a:buNone/>
            </a:pPr>
            <a:r>
              <a:rPr b="0" i="0" lang="en-GB" sz="80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01</a:t>
            </a:r>
            <a:br>
              <a:rPr b="0" i="0" lang="en-GB" sz="40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</a:br>
            <a:r>
              <a:rPr b="0" i="0" lang="en-GB" sz="40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Opportunities</a:t>
            </a:r>
            <a:endParaRPr b="0" i="0" sz="40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153988"/>
                </a:solidFill>
                <a:latin typeface="Sora ExtraLight"/>
                <a:ea typeface="Sora ExtraLight"/>
                <a:cs typeface="Sora ExtraLight"/>
                <a:sym typeface="Sora ExtraLight"/>
              </a:rPr>
              <a:t>What opportunity for employment have you found that aligns with your interests and transferable skills? What is the specific role or career path you will pursue?</a:t>
            </a:r>
            <a:endParaRPr b="0" i="0" sz="1800" u="none" cap="none" strike="noStrike">
              <a:solidFill>
                <a:srgbClr val="153988"/>
              </a:solidFill>
              <a:latin typeface="Sora ExtraLight"/>
              <a:ea typeface="Sora ExtraLight"/>
              <a:cs typeface="Sora ExtraLight"/>
              <a:sym typeface="Sora ExtraLight"/>
            </a:endParaRPr>
          </a:p>
        </p:txBody>
      </p:sp>
      <p:sp>
        <p:nvSpPr>
          <p:cNvPr id="78" name="Google Shape;78;p17"/>
          <p:cNvSpPr txBox="1"/>
          <p:nvPr/>
        </p:nvSpPr>
        <p:spPr>
          <a:xfrm>
            <a:off x="7063500" y="4681800"/>
            <a:ext cx="2080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9EED6B"/>
                </a:solidFill>
                <a:latin typeface="Sora"/>
                <a:ea typeface="Sora"/>
                <a:cs typeface="Sora"/>
                <a:sym typeface="Sora"/>
              </a:rPr>
              <a:t>Green Pathways</a:t>
            </a:r>
            <a:endParaRPr b="0" i="0" sz="1800" u="none" cap="none" strike="noStrike">
              <a:solidFill>
                <a:srgbClr val="9EED6B"/>
              </a:solidFill>
              <a:latin typeface="Sora"/>
              <a:ea typeface="Sora"/>
              <a:cs typeface="Sora"/>
              <a:sym typeface="Sor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t/>
            </a:r>
            <a:endParaRPr/>
          </a:p>
        </p:txBody>
      </p:sp>
      <p:sp>
        <p:nvSpPr>
          <p:cNvPr id="84" name="Google Shape;84;p18"/>
          <p:cNvSpPr txBox="1"/>
          <p:nvPr>
            <p:ph idx="4294967295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85" name="Google Shape;85;p18"/>
          <p:cNvSpPr txBox="1"/>
          <p:nvPr>
            <p:ph idx="4294967295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86" name="Google Shape;86;p18"/>
          <p:cNvSpPr txBox="1"/>
          <p:nvPr/>
        </p:nvSpPr>
        <p:spPr>
          <a:xfrm>
            <a:off x="7063500" y="4681800"/>
            <a:ext cx="2080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9EED6B"/>
                </a:solidFill>
                <a:latin typeface="Sora"/>
                <a:ea typeface="Sora"/>
                <a:cs typeface="Sora"/>
                <a:sym typeface="Sora"/>
              </a:rPr>
              <a:t>Green Pathways</a:t>
            </a:r>
            <a:endParaRPr b="0" i="0" sz="1800" u="none" cap="none" strike="noStrike">
              <a:solidFill>
                <a:srgbClr val="9EED6B"/>
              </a:solidFill>
              <a:latin typeface="Sora"/>
              <a:ea typeface="Sora"/>
              <a:cs typeface="Sora"/>
              <a:sym typeface="Sor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/>
        </p:nvSpPr>
        <p:spPr>
          <a:xfrm>
            <a:off x="477900" y="413350"/>
            <a:ext cx="8188200" cy="332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Arial"/>
              <a:buNone/>
            </a:pPr>
            <a:r>
              <a:rPr b="0" i="0" lang="en-GB" sz="80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02</a:t>
            </a:r>
            <a:br>
              <a:rPr b="0" i="0" lang="en-GB" sz="40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</a:br>
            <a:r>
              <a:rPr b="0" i="0" lang="en-GB" sz="40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Skills &amp; Education</a:t>
            </a:r>
            <a:endParaRPr b="0" i="0" sz="40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153988"/>
                </a:solidFill>
                <a:latin typeface="Sora ExtraLight"/>
                <a:ea typeface="Sora ExtraLight"/>
                <a:cs typeface="Sora ExtraLight"/>
                <a:sym typeface="Sora ExtraLight"/>
              </a:rPr>
              <a:t>What skills, education, and/or training are required for the role(s) you’ve found? What attributes will you need to acquire to apply for the opportunity identified in Part 1 (Opportunities)?</a:t>
            </a:r>
            <a:endParaRPr b="0" i="0" sz="1800" u="none" cap="none" strike="noStrike">
              <a:solidFill>
                <a:srgbClr val="153988"/>
              </a:solidFill>
              <a:latin typeface="Sora ExtraLight"/>
              <a:ea typeface="Sora ExtraLight"/>
              <a:cs typeface="Sora ExtraLight"/>
              <a:sym typeface="Sora ExtraLight"/>
            </a:endParaRPr>
          </a:p>
        </p:txBody>
      </p:sp>
      <p:sp>
        <p:nvSpPr>
          <p:cNvPr id="92" name="Google Shape;92;p19"/>
          <p:cNvSpPr txBox="1"/>
          <p:nvPr/>
        </p:nvSpPr>
        <p:spPr>
          <a:xfrm>
            <a:off x="7063500" y="4681800"/>
            <a:ext cx="2080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9EED6B"/>
                </a:solidFill>
                <a:latin typeface="Sora"/>
                <a:ea typeface="Sora"/>
                <a:cs typeface="Sora"/>
                <a:sym typeface="Sora"/>
              </a:rPr>
              <a:t>Green Pathways</a:t>
            </a:r>
            <a:endParaRPr b="0" i="0" sz="1800" u="none" cap="none" strike="noStrike">
              <a:solidFill>
                <a:srgbClr val="9EED6B"/>
              </a:solidFill>
              <a:latin typeface="Sora"/>
              <a:ea typeface="Sora"/>
              <a:cs typeface="Sora"/>
              <a:sym typeface="Sor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t/>
            </a:r>
            <a:endParaRPr/>
          </a:p>
        </p:txBody>
      </p:sp>
      <p:sp>
        <p:nvSpPr>
          <p:cNvPr id="98" name="Google Shape;98;p20"/>
          <p:cNvSpPr txBox="1"/>
          <p:nvPr>
            <p:ph idx="4294967295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99" name="Google Shape;99;p20"/>
          <p:cNvSpPr txBox="1"/>
          <p:nvPr>
            <p:ph idx="4294967295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100" name="Google Shape;100;p20"/>
          <p:cNvSpPr txBox="1"/>
          <p:nvPr/>
        </p:nvSpPr>
        <p:spPr>
          <a:xfrm>
            <a:off x="7063500" y="4681800"/>
            <a:ext cx="2080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9EED6B"/>
                </a:solidFill>
                <a:latin typeface="Sora"/>
                <a:ea typeface="Sora"/>
                <a:cs typeface="Sora"/>
                <a:sym typeface="Sora"/>
              </a:rPr>
              <a:t>Green Pathways</a:t>
            </a:r>
            <a:endParaRPr b="0" i="0" sz="1800" u="none" cap="none" strike="noStrike">
              <a:solidFill>
                <a:srgbClr val="9EED6B"/>
              </a:solidFill>
              <a:latin typeface="Sora"/>
              <a:ea typeface="Sora"/>
              <a:cs typeface="Sora"/>
              <a:sym typeface="Sor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 txBox="1"/>
          <p:nvPr/>
        </p:nvSpPr>
        <p:spPr>
          <a:xfrm>
            <a:off x="477900" y="413350"/>
            <a:ext cx="8188200" cy="36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Arial"/>
              <a:buNone/>
            </a:pPr>
            <a:r>
              <a:rPr b="0" i="0" lang="en-GB" sz="80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03</a:t>
            </a:r>
            <a:br>
              <a:rPr b="0" i="0" lang="en-GB" sz="40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</a:br>
            <a:r>
              <a:rPr b="0" i="0" lang="en-GB" sz="40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Experience</a:t>
            </a:r>
            <a:endParaRPr b="0" i="0" sz="40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153988"/>
                </a:solidFill>
                <a:latin typeface="Sora ExtraLight"/>
                <a:ea typeface="Sora ExtraLight"/>
                <a:cs typeface="Sora ExtraLight"/>
                <a:sym typeface="Sora ExtraLight"/>
              </a:rPr>
              <a:t>How can you demonstrate your own readiness to apply for the opportunity you’ve found? Do you have any transferable skills? Can you present real-life or hypothetical examples of the requirements identified in Part 2 (Skills &amp; Education)?</a:t>
            </a:r>
            <a:endParaRPr b="0" i="0" sz="1800" u="none" cap="none" strike="noStrike">
              <a:solidFill>
                <a:srgbClr val="153988"/>
              </a:solidFill>
              <a:latin typeface="Sora ExtraLight"/>
              <a:ea typeface="Sora ExtraLight"/>
              <a:cs typeface="Sora ExtraLight"/>
              <a:sym typeface="Sora ExtraLight"/>
            </a:endParaRPr>
          </a:p>
        </p:txBody>
      </p:sp>
      <p:sp>
        <p:nvSpPr>
          <p:cNvPr id="106" name="Google Shape;106;p21"/>
          <p:cNvSpPr txBox="1"/>
          <p:nvPr/>
        </p:nvSpPr>
        <p:spPr>
          <a:xfrm>
            <a:off x="7063500" y="4681800"/>
            <a:ext cx="2080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9EED6B"/>
                </a:solidFill>
                <a:latin typeface="Sora"/>
                <a:ea typeface="Sora"/>
                <a:cs typeface="Sora"/>
                <a:sym typeface="Sora"/>
              </a:rPr>
              <a:t>Green Pathways</a:t>
            </a:r>
            <a:endParaRPr b="0" i="0" sz="1800" u="none" cap="none" strike="noStrike">
              <a:solidFill>
                <a:srgbClr val="9EED6B"/>
              </a:solidFill>
              <a:latin typeface="Sora"/>
              <a:ea typeface="Sora"/>
              <a:cs typeface="Sora"/>
              <a:sym typeface="Sor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2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t/>
            </a:r>
            <a:endParaRPr/>
          </a:p>
        </p:txBody>
      </p:sp>
      <p:sp>
        <p:nvSpPr>
          <p:cNvPr id="112" name="Google Shape;112;p22"/>
          <p:cNvSpPr txBox="1"/>
          <p:nvPr>
            <p:ph idx="4294967295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113" name="Google Shape;113;p22"/>
          <p:cNvSpPr txBox="1"/>
          <p:nvPr>
            <p:ph idx="4294967295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114" name="Google Shape;114;p22"/>
          <p:cNvSpPr txBox="1"/>
          <p:nvPr/>
        </p:nvSpPr>
        <p:spPr>
          <a:xfrm>
            <a:off x="7063500" y="4681800"/>
            <a:ext cx="2080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9EED6B"/>
                </a:solidFill>
                <a:latin typeface="Sora"/>
                <a:ea typeface="Sora"/>
                <a:cs typeface="Sora"/>
                <a:sym typeface="Sora"/>
              </a:rPr>
              <a:t>Green Pathways</a:t>
            </a:r>
            <a:endParaRPr b="0" i="0" sz="1800" u="none" cap="none" strike="noStrike">
              <a:solidFill>
                <a:srgbClr val="9EED6B"/>
              </a:solidFill>
              <a:latin typeface="Sora"/>
              <a:ea typeface="Sora"/>
              <a:cs typeface="Sora"/>
              <a:sym typeface="Sor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3"/>
          <p:cNvSpPr txBox="1"/>
          <p:nvPr/>
        </p:nvSpPr>
        <p:spPr>
          <a:xfrm>
            <a:off x="477900" y="413350"/>
            <a:ext cx="8188200" cy="30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Arial"/>
              <a:buNone/>
            </a:pPr>
            <a:r>
              <a:rPr b="0" i="0" lang="en-GB" sz="80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04</a:t>
            </a:r>
            <a:br>
              <a:rPr b="0" i="0" lang="en-GB" sz="40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</a:br>
            <a:r>
              <a:rPr b="0" i="0" lang="en-GB" sz="40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Next Steps</a:t>
            </a:r>
            <a:endParaRPr b="0" i="0" sz="40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153988"/>
                </a:solidFill>
                <a:latin typeface="Sora ExtraLight"/>
                <a:ea typeface="Sora ExtraLight"/>
                <a:cs typeface="Sora ExtraLight"/>
                <a:sym typeface="Sora ExtraLight"/>
              </a:rPr>
              <a:t>What actions do you need to take to give yourself the best chance of success in pursuing your chosen career path?</a:t>
            </a:r>
            <a:endParaRPr b="0" i="0" sz="1800" u="none" cap="none" strike="noStrike">
              <a:solidFill>
                <a:srgbClr val="153988"/>
              </a:solidFill>
              <a:latin typeface="Sora ExtraLight"/>
              <a:ea typeface="Sora ExtraLight"/>
              <a:cs typeface="Sora ExtraLight"/>
              <a:sym typeface="Sora ExtraLight"/>
            </a:endParaRPr>
          </a:p>
        </p:txBody>
      </p:sp>
      <p:sp>
        <p:nvSpPr>
          <p:cNvPr id="120" name="Google Shape;120;p23"/>
          <p:cNvSpPr txBox="1"/>
          <p:nvPr/>
        </p:nvSpPr>
        <p:spPr>
          <a:xfrm>
            <a:off x="7063500" y="4681800"/>
            <a:ext cx="2080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9EED6B"/>
                </a:solidFill>
                <a:latin typeface="Sora"/>
                <a:ea typeface="Sora"/>
                <a:cs typeface="Sora"/>
                <a:sym typeface="Sora"/>
              </a:rPr>
              <a:t>Green Pathways</a:t>
            </a:r>
            <a:endParaRPr b="0" i="0" sz="1800" u="none" cap="none" strike="noStrike">
              <a:solidFill>
                <a:srgbClr val="9EED6B"/>
              </a:solidFill>
              <a:latin typeface="Sora"/>
              <a:ea typeface="Sora"/>
              <a:cs typeface="Sora"/>
              <a:sym typeface="Sor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4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t/>
            </a:r>
            <a:endParaRPr/>
          </a:p>
        </p:txBody>
      </p:sp>
      <p:sp>
        <p:nvSpPr>
          <p:cNvPr id="126" name="Google Shape;126;p24"/>
          <p:cNvSpPr txBox="1"/>
          <p:nvPr>
            <p:ph idx="4294967295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127" name="Google Shape;127;p24"/>
          <p:cNvSpPr txBox="1"/>
          <p:nvPr>
            <p:ph idx="4294967295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128" name="Google Shape;128;p24"/>
          <p:cNvSpPr txBox="1"/>
          <p:nvPr/>
        </p:nvSpPr>
        <p:spPr>
          <a:xfrm>
            <a:off x="7063500" y="4681800"/>
            <a:ext cx="2080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9EED6B"/>
                </a:solidFill>
                <a:latin typeface="Sora"/>
                <a:ea typeface="Sora"/>
                <a:cs typeface="Sora"/>
                <a:sym typeface="Sora"/>
              </a:rPr>
              <a:t>Green Pathways</a:t>
            </a:r>
            <a:endParaRPr b="0" i="0" sz="1800" u="none" cap="none" strike="noStrike">
              <a:solidFill>
                <a:srgbClr val="9EED6B"/>
              </a:solidFill>
              <a:latin typeface="Sora"/>
              <a:ea typeface="Sora"/>
              <a:cs typeface="Sora"/>
              <a:sym typeface="Sor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5"/>
          <p:cNvSpPr txBox="1"/>
          <p:nvPr/>
        </p:nvSpPr>
        <p:spPr>
          <a:xfrm>
            <a:off x="477900" y="413350"/>
            <a:ext cx="8188200" cy="21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br>
              <a:rPr b="0" i="0" lang="en-GB" sz="40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</a:br>
            <a:r>
              <a:rPr b="0" i="0" lang="en-GB" sz="4000" u="none" cap="none" strike="noStrik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Thank you!</a:t>
            </a:r>
            <a:endParaRPr b="0" i="0" sz="40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153988"/>
              </a:solidFill>
              <a:latin typeface="Sora ExtraLight"/>
              <a:ea typeface="Sora ExtraLight"/>
              <a:cs typeface="Sora ExtraLight"/>
              <a:sym typeface="Sora ExtraLight"/>
            </a:endParaRPr>
          </a:p>
        </p:txBody>
      </p:sp>
      <p:sp>
        <p:nvSpPr>
          <p:cNvPr id="134" name="Google Shape;134;p25"/>
          <p:cNvSpPr txBox="1"/>
          <p:nvPr/>
        </p:nvSpPr>
        <p:spPr>
          <a:xfrm>
            <a:off x="7063500" y="4681800"/>
            <a:ext cx="2080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9EED6B"/>
                </a:solidFill>
                <a:latin typeface="Sora"/>
                <a:ea typeface="Sora"/>
                <a:cs typeface="Sora"/>
                <a:sym typeface="Sora"/>
              </a:rPr>
              <a:t>Green Pathways</a:t>
            </a:r>
            <a:endParaRPr b="0" i="0" sz="1800" u="none" cap="none" strike="noStrike">
              <a:solidFill>
                <a:srgbClr val="9EED6B"/>
              </a:solidFill>
              <a:latin typeface="Sora"/>
              <a:ea typeface="Sora"/>
              <a:cs typeface="Sora"/>
              <a:sym typeface="Sor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